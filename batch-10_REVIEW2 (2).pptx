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48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A10F7-80FF-004A-7620-23178654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A4D0-14CF-11BB-6737-6DA6F2DEC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1263B-1F65-6F3C-5D37-E389ECF64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4D4B-3BF3-731D-702E-4D9BFA770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23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07CE-8B65-FCB2-D30F-33F0925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FF303-EA43-1824-25A7-2A37D8A59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525F6-16FD-E47F-A7CC-CD5A3A26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6333C-21A6-A8B1-BFD9-AD9FA83CC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32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A47C-0D15-BEF3-5D71-DFA85BAA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83E24-26C2-E25D-E6D0-4F6231B0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384C2-21AA-4825-8DA7-F096C28B0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86521-16FF-3871-89B5-F673A9F3A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</a:rPr>
              <a:t>FOOD WASTE MANAGEMENT SYSTEM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1945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Project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Review – 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Guidance of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Neelima Gogineni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Professor,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KLH CSE Bowrampet Campus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235780"/>
              </p:ext>
            </p:extLst>
          </p:nvPr>
        </p:nvGraphicFramePr>
        <p:xfrm>
          <a:off x="7040880" y="4160520"/>
          <a:ext cx="46634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Roll.NO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Prabhu 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2420030396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 Prakash 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2420030365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Pavan Teja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2420030497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Best Private University in Telangana &amp; Andhra Pradesh | KLH Hyderabad">
            <a:extLst>
              <a:ext uri="{FF2B5EF4-FFF2-40B4-BE49-F238E27FC236}">
                <a16:creationId xmlns:a16="http://schemas.microsoft.com/office/drawing/2014/main" id="{63D12542-0350-9A44-B129-E999D7C2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3" y="-360181"/>
            <a:ext cx="1939646" cy="1183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199" y="1188720"/>
            <a:ext cx="11317705" cy="5212080"/>
          </a:xfrm>
          <a:prstGeom prst="roundRect">
            <a:avLst>
              <a:gd name="adj" fmla="val 35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7239" y="1620253"/>
            <a:ext cx="10724949" cy="459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Hotels, hostels and canteens prepare large quantities of food every day.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The actual food consumption may be lower than the prepared quantity.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Food waste is often recorded manually or not tracked properly.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Lack of proper waste data makes it difficult to identify which food items are wasted the most.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Manual tracking is time consuming and can lead to inaccurate records.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There is a need for a centralized system to monitor and manage food waste.</a:t>
            </a:r>
          </a:p>
        </p:txBody>
      </p:sp>
      <p:pic>
        <p:nvPicPr>
          <p:cNvPr id="16" name="Picture 15" descr="Best Private University in Telangana &amp; Andhra Pradesh | KLH Hyderabad">
            <a:extLst>
              <a:ext uri="{FF2B5EF4-FFF2-40B4-BE49-F238E27FC236}">
                <a16:creationId xmlns:a16="http://schemas.microsoft.com/office/drawing/2014/main" id="{489DF514-1523-4546-B864-0F49E232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5" y="-374609"/>
            <a:ext cx="1500069" cy="1114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</a:rPr>
              <a:t>Objectives</a:t>
            </a:r>
            <a:endParaRPr lang="en-US" sz="3000" dirty="0">
              <a:solidFill>
                <a:schemeClr val="accent1"/>
              </a:solidFill>
            </a:endParaRPr>
          </a:p>
        </p:txBody>
      </p:sp>
      <p:pic>
        <p:nvPicPr>
          <p:cNvPr id="66" name="Picture 65" descr="Best Private University in Telangana &amp; Andhra Pradesh | KLH Hyderabad">
            <a:extLst>
              <a:ext uri="{FF2B5EF4-FFF2-40B4-BE49-F238E27FC236}">
                <a16:creationId xmlns:a16="http://schemas.microsoft.com/office/drawing/2014/main" id="{28476F2E-0DFC-FB6D-3528-A9D78A49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" y="-365747"/>
            <a:ext cx="1599264" cy="1188707"/>
          </a:xfrm>
          <a:prstGeom prst="rect">
            <a:avLst/>
          </a:prstGeom>
        </p:spPr>
      </p:pic>
      <p:sp>
        <p:nvSpPr>
          <p:cNvPr id="2" name="Shape 8"/>
          <p:cNvSpPr/>
          <p:nvPr/>
        </p:nvSpPr>
        <p:spPr>
          <a:xfrm>
            <a:off x="368969" y="1188720"/>
            <a:ext cx="11381072" cy="5212080"/>
          </a:xfrm>
          <a:prstGeom prst="roundRect">
            <a:avLst>
              <a:gd name="adj" fmla="val 35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297C641-61A8-7C4E-BD97-1E1460500EDF}"/>
              </a:ext>
            </a:extLst>
          </p:cNvPr>
          <p:cNvSpPr txBox="1"/>
          <p:nvPr/>
        </p:nvSpPr>
        <p:spPr>
          <a:xfrm>
            <a:off x="777239" y="1620253"/>
            <a:ext cx="10724949" cy="459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Digitize and automate food waste management.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Record food preparation, consumption and waste details.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Monitor daily, weekly and monthly food waste.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Identify frequently wasted food items.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Generate reports and analytics for management.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Provide separate services for food, waste, users and reports using SOA.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9755-6172-E722-F591-F3ECDD90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BB96B57-873F-1289-6EDA-9E73DB8C36AF}"/>
              </a:ext>
            </a:extLst>
          </p:cNvPr>
          <p:cNvSpPr txBox="1"/>
          <p:nvPr/>
        </p:nvSpPr>
        <p:spPr>
          <a:xfrm>
            <a:off x="1807545" y="3200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</a:rPr>
              <a:t>Methodology</a:t>
            </a:r>
            <a:endParaRPr lang="en-US" sz="3000" dirty="0">
              <a:solidFill>
                <a:schemeClr val="accent1"/>
              </a:solidFill>
            </a:endParaRPr>
          </a:p>
        </p:txBody>
      </p:sp>
      <p:pic>
        <p:nvPicPr>
          <p:cNvPr id="66" name="Picture 65" descr="Best Private University in Telangana &amp; Andhra Pradesh | KLH Hyderabad">
            <a:extLst>
              <a:ext uri="{FF2B5EF4-FFF2-40B4-BE49-F238E27FC236}">
                <a16:creationId xmlns:a16="http://schemas.microsoft.com/office/drawing/2014/main" id="{C6E8DFB1-6162-1AAE-5C65-FB2B39F29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" y="-365747"/>
            <a:ext cx="1599264" cy="1188707"/>
          </a:xfrm>
          <a:prstGeom prst="rect">
            <a:avLst/>
          </a:prstGeom>
        </p:spPr>
      </p:pic>
      <p:sp>
        <p:nvSpPr>
          <p:cNvPr id="2" name="Shape 8">
            <a:extLst>
              <a:ext uri="{FF2B5EF4-FFF2-40B4-BE49-F238E27FC236}">
                <a16:creationId xmlns:a16="http://schemas.microsoft.com/office/drawing/2014/main" id="{01A7A0E0-489D-6659-7A3A-C8182B4061C0}"/>
              </a:ext>
            </a:extLst>
          </p:cNvPr>
          <p:cNvSpPr/>
          <p:nvPr/>
        </p:nvSpPr>
        <p:spPr>
          <a:xfrm>
            <a:off x="368969" y="1188720"/>
            <a:ext cx="11381072" cy="5212080"/>
          </a:xfrm>
          <a:prstGeom prst="roundRect">
            <a:avLst>
              <a:gd name="adj" fmla="val 35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1E78A18-0423-3C98-73A3-CAE3EE5F1258}"/>
              </a:ext>
            </a:extLst>
          </p:cNvPr>
          <p:cNvSpPr txBox="1"/>
          <p:nvPr/>
        </p:nvSpPr>
        <p:spPr>
          <a:xfrm>
            <a:off x="777239" y="1620253"/>
            <a:ext cx="5318761" cy="459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1. Food Data Entry</a:t>
            </a:r>
            <a:endParaRPr lang="en-US" dirty="0"/>
          </a:p>
          <a:p>
            <a:r>
              <a:rPr lang="en-US" dirty="0"/>
              <a:t>Food name </a:t>
            </a:r>
          </a:p>
          <a:p>
            <a:r>
              <a:rPr lang="en-US" dirty="0"/>
              <a:t>Quantity prepared </a:t>
            </a:r>
          </a:p>
          <a:p>
            <a:r>
              <a:rPr lang="en-US" dirty="0"/>
              <a:t>Meal type </a:t>
            </a:r>
          </a:p>
          <a:p>
            <a:r>
              <a:rPr lang="en-US" dirty="0"/>
              <a:t>Date and location</a:t>
            </a:r>
          </a:p>
          <a:p>
            <a:r>
              <a:rPr lang="en-US" b="1" dirty="0"/>
              <a:t>2. Consumption &amp; Waste Recording</a:t>
            </a:r>
            <a:endParaRPr lang="en-US" dirty="0"/>
          </a:p>
          <a:p>
            <a:r>
              <a:rPr lang="en-US" dirty="0"/>
              <a:t>Quantity consumed </a:t>
            </a:r>
          </a:p>
          <a:p>
            <a:r>
              <a:rPr lang="en-US" dirty="0"/>
              <a:t>Quantity remaining </a:t>
            </a:r>
          </a:p>
          <a:p>
            <a:r>
              <a:rPr lang="en-US" dirty="0"/>
              <a:t>Quantity wasted</a:t>
            </a:r>
          </a:p>
          <a:p>
            <a:r>
              <a:rPr lang="en-US" b="1" dirty="0"/>
              <a:t>3. Waste Calculation</a:t>
            </a:r>
            <a:endParaRPr lang="en-US" dirty="0"/>
          </a:p>
          <a:p>
            <a:r>
              <a:rPr lang="en-US" dirty="0"/>
              <a:t>Food Waste = Food Prepared − Food Consumed</a:t>
            </a:r>
          </a:p>
          <a:p>
            <a:r>
              <a:rPr lang="en-US" b="1" dirty="0"/>
              <a:t>4. Waste Analysis</a:t>
            </a:r>
            <a:endParaRPr lang="en-US" dirty="0"/>
          </a:p>
          <a:p>
            <a:r>
              <a:rPr lang="en-US" dirty="0"/>
              <a:t>Calculate waste percentage </a:t>
            </a:r>
          </a:p>
          <a:p>
            <a:r>
              <a:rPr lang="en-US" dirty="0"/>
              <a:t>Identify highly wasted food </a:t>
            </a:r>
          </a:p>
          <a:p>
            <a:r>
              <a:rPr lang="en-US" dirty="0"/>
              <a:t>Compare daily/weekly/monthly waste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67D67902-FFD6-E1F1-BFEF-122CD2E9FB74}"/>
              </a:ext>
            </a:extLst>
          </p:cNvPr>
          <p:cNvSpPr txBox="1"/>
          <p:nvPr/>
        </p:nvSpPr>
        <p:spPr>
          <a:xfrm>
            <a:off x="6080760" y="1620253"/>
            <a:ext cx="5318761" cy="447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Output:</a:t>
            </a:r>
          </a:p>
          <a:p>
            <a:endParaRPr lang="en-US" sz="2000" dirty="0"/>
          </a:p>
          <a:p>
            <a:r>
              <a:rPr lang="en-US" sz="2000" b="1" dirty="0"/>
              <a:t>Food Waste Report</a:t>
            </a:r>
            <a:endParaRPr lang="en-US" sz="2000" dirty="0"/>
          </a:p>
          <a:p>
            <a:r>
              <a:rPr lang="en-US" sz="2000" dirty="0"/>
              <a:t>Total food prepared </a:t>
            </a:r>
          </a:p>
          <a:p>
            <a:r>
              <a:rPr lang="en-US" sz="2000" dirty="0"/>
              <a:t>Total food consumed </a:t>
            </a:r>
          </a:p>
          <a:p>
            <a:r>
              <a:rPr lang="en-US" sz="2000" dirty="0"/>
              <a:t>Total food wasted </a:t>
            </a:r>
          </a:p>
          <a:p>
            <a:r>
              <a:rPr lang="en-US" sz="2000" dirty="0"/>
              <a:t>Waste percentage </a:t>
            </a:r>
          </a:p>
          <a:p>
            <a:r>
              <a:rPr lang="en-US" sz="2000" dirty="0"/>
              <a:t>Waste trends </a:t>
            </a:r>
          </a:p>
          <a:p>
            <a:r>
              <a:rPr lang="en-US" sz="2000" dirty="0"/>
              <a:t>Frequently wasted food items</a:t>
            </a:r>
          </a:p>
        </p:txBody>
      </p:sp>
    </p:spTree>
    <p:extLst>
      <p:ext uri="{BB962C8B-B14F-4D97-AF65-F5344CB8AC3E}">
        <p14:creationId xmlns:p14="http://schemas.microsoft.com/office/powerpoint/2010/main" val="363557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Soundness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76072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solidFill>
            <a:srgbClr val="2B5F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React, HTML, CSS, JavaScript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solidFill>
            <a:srgbClr val="3E9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828800" y="256032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43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2560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Java, Spring Boot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828800" y="342900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611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5176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MySQL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solidFill>
            <a:srgbClr val="8E5B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828800" y="429768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4805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6517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583680" y="1097280"/>
            <a:ext cx="516636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 txBox="1"/>
          <p:nvPr/>
        </p:nvSpPr>
        <p:spPr>
          <a:xfrm>
            <a:off x="672084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583680" y="21031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2212848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836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/ Admin)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8321040" y="21031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2212848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321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Browser)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10149840" y="2103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8772" y="2212848"/>
            <a:ext cx="402336" cy="40233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1498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+ Express)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79552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97840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10945368" y="3337560"/>
            <a:ext cx="0" cy="128016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9692640" y="461772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0172" y="4727448"/>
            <a:ext cx="402336" cy="40233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692640" y="5166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6858000" y="46177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392" y="4727448"/>
            <a:ext cx="402336" cy="40233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8580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3" name="Shape 40"/>
          <p:cNvSpPr/>
          <p:nvPr/>
        </p:nvSpPr>
        <p:spPr>
          <a:xfrm>
            <a:off x="8961120" y="5230368"/>
            <a:ext cx="7315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Picture 54" descr="Best Private University in Telangana &amp; Andhra Pradesh | KLH Hyderabad">
            <a:extLst>
              <a:ext uri="{FF2B5EF4-FFF2-40B4-BE49-F238E27FC236}">
                <a16:creationId xmlns:a16="http://schemas.microsoft.com/office/drawing/2014/main" id="{AE578F58-852C-6C68-D3D8-860BD1D67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457705"/>
            <a:ext cx="1722983" cy="1280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712018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1595237" y="1097280"/>
            <a:ext cx="8737483" cy="5131582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2682982" y="1931182"/>
            <a:ext cx="65619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UI Testing</a:t>
            </a:r>
            <a:r>
              <a:rPr lang="en-US" sz="2000" dirty="0"/>
              <a:t> – Check user interface functionality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– backend endpoints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API Testing</a:t>
            </a:r>
            <a:r>
              <a:rPr lang="en-US" sz="2000" dirty="0"/>
              <a:t> – Test REST API endpoints using Postman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Testing – user access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2000" b="1" dirty="0"/>
              <a:t>Database Testing</a:t>
            </a:r>
            <a:r>
              <a:rPr lang="en-IN" sz="2000" dirty="0"/>
              <a:t> – Verify CRUD operations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– module interaction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Authentication Testing</a:t>
            </a:r>
            <a:r>
              <a:rPr lang="en-US" sz="2000" dirty="0"/>
              <a:t> – Verify user access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Service Testing</a:t>
            </a:r>
            <a:r>
              <a:rPr lang="en-US" sz="2000" dirty="0"/>
              <a:t> – Test individual services</a:t>
            </a:r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61CF8B20-CEAC-3E74-1631-18E6F109E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4F03-244D-0438-A5A1-95605038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AD7D9C09-05AD-0020-A140-313FE8667F80}"/>
              </a:ext>
            </a:extLst>
          </p:cNvPr>
          <p:cNvSpPr txBox="1"/>
          <p:nvPr/>
        </p:nvSpPr>
        <p:spPr>
          <a:xfrm>
            <a:off x="1844040" y="1371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&amp; Conclusion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118766D-3DAF-6F7E-D361-5C4FCB603DB8}"/>
              </a:ext>
            </a:extLst>
          </p:cNvPr>
          <p:cNvSpPr/>
          <p:nvPr/>
        </p:nvSpPr>
        <p:spPr>
          <a:xfrm>
            <a:off x="985812" y="1097280"/>
            <a:ext cx="4903374" cy="5349240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93C1C65-BB46-25A8-3B69-4B80308DADC6}"/>
              </a:ext>
            </a:extLst>
          </p:cNvPr>
          <p:cNvSpPr txBox="1"/>
          <p:nvPr/>
        </p:nvSpPr>
        <p:spPr>
          <a:xfrm>
            <a:off x="1296572" y="147906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AC3FC29-DC39-1BAE-8F73-46899BC249B1}"/>
              </a:ext>
            </a:extLst>
          </p:cNvPr>
          <p:cNvSpPr txBox="1"/>
          <p:nvPr/>
        </p:nvSpPr>
        <p:spPr>
          <a:xfrm>
            <a:off x="1296572" y="2148840"/>
            <a:ext cx="399209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Easy recording of food waste.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1600" dirty="0"/>
              <a:t>Reduced manual work.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Identification of frequently wasted food.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Useful daily, weekly and monthly reports.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Better food planning by hotels, hostels and canteens.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1600" dirty="0"/>
              <a:t>Modular SOA-based system.</a:t>
            </a:r>
            <a:endParaRPr lang="en-US" sz="14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61EED33-C8D9-CE79-3AFD-121934795FE0}"/>
              </a:ext>
            </a:extLst>
          </p:cNvPr>
          <p:cNvSpPr/>
          <p:nvPr/>
        </p:nvSpPr>
        <p:spPr>
          <a:xfrm>
            <a:off x="6240780" y="1097280"/>
            <a:ext cx="5326380" cy="5349240"/>
          </a:xfrm>
          <a:prstGeom prst="roundRect">
            <a:avLst>
              <a:gd name="adj" fmla="val 3750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24C77CA-7884-8C2A-5B87-2286AE9BA4D8}"/>
              </a:ext>
            </a:extLst>
          </p:cNvPr>
          <p:cNvSpPr txBox="1"/>
          <p:nvPr/>
        </p:nvSpPr>
        <p:spPr>
          <a:xfrm>
            <a:off x="6592374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3523349-F72B-6E66-E329-BA7616C3F55F}"/>
              </a:ext>
            </a:extLst>
          </p:cNvPr>
          <p:cNvSpPr txBox="1"/>
          <p:nvPr/>
        </p:nvSpPr>
        <p:spPr>
          <a:xfrm>
            <a:off x="6592374" y="2148840"/>
            <a:ext cx="4623192" cy="180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800"/>
              </a:spcAft>
            </a:pPr>
            <a:r>
              <a:rPr lang="en-US" sz="1600" dirty="0"/>
              <a:t>The Food Waste Management System provides a service-oriented platform for hotels, hostels and canteens to record, monitor and analyze food waste. By using independent services and REST APIs, the system provides a modular and maintainable architecture while helping organizations make better food-planning decisions and reduce unnecessary food wastage.</a:t>
            </a:r>
            <a:endParaRPr lang="en-US" sz="1400" dirty="0"/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CE85135F-A836-851A-6D38-7288DB74D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4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5A16-6EA1-1A8C-C1CF-0D55BC66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9ACB8B2C-5A06-972E-4C65-A16684013E4C}"/>
              </a:ext>
            </a:extLst>
          </p:cNvPr>
          <p:cNvSpPr/>
          <p:nvPr/>
        </p:nvSpPr>
        <p:spPr>
          <a:xfrm>
            <a:off x="1727258" y="2084754"/>
            <a:ext cx="8737483" cy="2688492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A21BC9CE-FA79-9C3C-1527-BFB889E5A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5DE4023-51C8-7FDF-2010-9B1432779ED5}"/>
              </a:ext>
            </a:extLst>
          </p:cNvPr>
          <p:cNvSpPr txBox="1"/>
          <p:nvPr/>
        </p:nvSpPr>
        <p:spPr>
          <a:xfrm>
            <a:off x="1844039" y="2846754"/>
            <a:ext cx="8503920" cy="116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17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464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Teja</cp:lastModifiedBy>
  <cp:revision>5</cp:revision>
  <dcterms:created xsi:type="dcterms:W3CDTF">2026-09-21T12:26:08Z</dcterms:created>
  <dcterms:modified xsi:type="dcterms:W3CDTF">2026-09-22T09:02:19Z</dcterms:modified>
</cp:coreProperties>
</file>