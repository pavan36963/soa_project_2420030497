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62" r:id="rId2"/>
    <p:sldId id="257" r:id="rId3"/>
    <p:sldId id="904" r:id="rId4"/>
    <p:sldId id="905" r:id="rId5"/>
    <p:sldId id="259" r:id="rId6"/>
    <p:sldId id="906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48" d="100"/>
          <a:sy n="48" d="100"/>
        </p:scale>
        <p:origin x="106" y="97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666E0-C270-4F2D-A5DC-96BE795B540E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044B-B5AF-477C-950C-4ED512634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606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74734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2BE77-A6B4-BF9A-F59F-6A1C17E6D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F4D497-63DE-C270-40A4-331A37D0B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09C3A-1739-D230-186B-84454F605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63778-C058-1235-D3A3-7BCFF3CD0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A1708-DD63-B8A6-CDE5-A057B2CF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699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A0280-1254-E679-102E-D8CC13C8C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84D78-2E62-1C74-D557-5115FDC29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02B77-F303-2F09-80CB-35B74D2F5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359BF-B012-085F-389A-331E721BC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B0460-9CE8-D43D-79E7-A7A9144A3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162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87D46-3DEF-526E-5F46-4ADACBEC0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A517A-D5B3-3AF2-38BE-1D8998813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02125-0289-3272-156D-A3C31E848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971A6-CC5A-CC09-A1F2-E284284E8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898D5-FC90-9DA1-FE2F-D07DEDDAD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52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89433-0D52-95EF-D78E-4FC912D4F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A2DAE-6EF3-6910-5373-1A5DF4090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1AE70-38B9-B797-DE71-57CAE4C82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5E50E-F402-07A4-460F-3431CA999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4D7A32-7B4B-0167-CBD3-4FB4F42F7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EB928D-DF00-B9C5-1A36-1E52C14CB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98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CFE06-EEED-5CC3-A38A-576DD2C8A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0BA8C-9EDE-BB49-BD35-49BAFCB8D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1DDD39-7D2C-4493-F56F-81F6BC3F98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14469B-6213-D34D-07A9-FCDC82AC0F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6440F3-3F2D-85CC-D2E2-6D0D54B8A2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346DE1-9818-60AF-EAF8-FFED39BA5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5E9E00-6460-F360-EDFD-B03FBA2C6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BFFDD7-5BFE-EA3B-6250-A381A5695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251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E0FC-511C-2C2C-E510-CDDF2634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796671-3C71-777F-3A4D-A89D7E5D6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024A6A-95A8-2753-339B-FC09D4CAE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E07AF-B1A0-E180-D5AC-3F2F0031C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466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8527A8-9BA5-6E6B-9B96-E6F6FADC4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AB8C98-6C07-7CF9-228C-EF7E65147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47070-DD15-038E-31F6-EF9EAD920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321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28049-15BD-A06B-510D-51342C765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7F51D-EFF8-F91B-8F7D-613493BF8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43686E-4EC3-3B25-F2B1-DEF00AA47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24C9A3-A390-80A1-50AD-21AB6B252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FB16C-3A67-2F8D-2205-B1FF3BE2C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37A69-0E62-6668-A184-42A6DBF6B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480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AFB01-3CD4-CFD9-5A71-411262FAA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DCEFF8-AB3F-42A6-ADAF-1080336CCB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914F7C-5D5A-7C5D-50F2-B5067E1E6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767C3-2493-217A-8E1D-03F6BBB4A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FEBF7-64BD-7F85-1240-C02E3705B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064DB1-56E3-B1C9-BED9-904A25C29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973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BCD61-B1C9-A34D-6022-ADB9D4B22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24F7E8-10E7-E6C8-474D-2A06ED501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7D405-5D32-C40F-1430-5F5A97DD4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9955A-6D2E-8ABB-AF09-EC9590F01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E1B21-A5D1-C625-FE7B-A0232576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886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699036-2042-AC93-5117-4059611F3C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2DD23D-712F-710C-F8D8-B4B2B3E059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95516-E45F-6DA1-08EA-04E781DF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71DB9-D5C7-9EFA-0532-06B0BAAF4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35D92-5A89-BE34-CC33-93F56B3ED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349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711898-360B-AD49-DD62-FA3B7B662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2BE89-A274-4461-2B81-505874463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B2A70-C1DC-D783-67E1-97822E79A5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27863A-4956-4659-9192-3D74DA4F7578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5D01A-229C-E067-7B4E-BC254D654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41767-E51C-1DAB-E3C8-F047E87A8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3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D22BC4D-4857-7D81-7819-37B7BB4264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9512670"/>
              </p:ext>
            </p:extLst>
          </p:nvPr>
        </p:nvGraphicFramePr>
        <p:xfrm>
          <a:off x="8193271" y="4898509"/>
          <a:ext cx="3702050" cy="1066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02050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</a:tblGrid>
              <a:tr h="7523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Members: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BHANU PRAKASH 2420030365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PRABHULING        2420030396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PAVANTEJA          2420030497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21" name="Group 20">
            <a:extLst>
              <a:ext uri="{FF2B5EF4-FFF2-40B4-BE49-F238E27FC236}">
                <a16:creationId xmlns:a16="http://schemas.microsoft.com/office/drawing/2014/main" id="{B5A8CA37-C090-A9D8-75D0-A7A7D5DEBE24}"/>
              </a:ext>
            </a:extLst>
          </p:cNvPr>
          <p:cNvGrpSpPr/>
          <p:nvPr/>
        </p:nvGrpSpPr>
        <p:grpSpPr>
          <a:xfrm>
            <a:off x="8038280" y="4765558"/>
            <a:ext cx="230240" cy="232995"/>
            <a:chOff x="1567861" y="1613059"/>
            <a:chExt cx="230240" cy="232995"/>
          </a:xfrm>
          <a:solidFill>
            <a:srgbClr val="FF66FF"/>
          </a:solidFill>
        </p:grpSpPr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E48399A6-AAB5-B502-9670-34E0FCDF5541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67E59050-351C-0873-0298-AB77EA522C22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9091FADF-77DB-CB1D-CD72-56C53CF76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2302866"/>
              </p:ext>
            </p:extLst>
          </p:nvPr>
        </p:nvGraphicFramePr>
        <p:xfrm>
          <a:off x="-795813" y="4774125"/>
          <a:ext cx="5902325" cy="1427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3565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  <a:gridCol w="4528760">
                  <a:extLst>
                    <a:ext uri="{9D8B030D-6E8A-4147-A177-3AD203B41FA5}">
                      <a16:colId xmlns:a16="http://schemas.microsoft.com/office/drawing/2014/main" val="1330242319"/>
                    </a:ext>
                  </a:extLst>
                </a:gridCol>
              </a:tblGrid>
              <a:tr h="133211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5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the Guidance of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Dr.</a:t>
                      </a:r>
                      <a:r>
                        <a:rPr lang="en-IN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N" sz="1400" b="1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NEELIMA GOGINENI</a:t>
                      </a:r>
                      <a:endParaRPr lang="en-US" sz="1400" b="1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IN" sz="1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Assistant</a:t>
                      </a: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 Professor,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Department of </a:t>
                      </a:r>
                      <a:r>
                        <a:rPr lang="en-US" sz="14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Computer Science and Engineering,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KLH CSE Bowrampet Campus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31" name="Group 30">
            <a:extLst>
              <a:ext uri="{FF2B5EF4-FFF2-40B4-BE49-F238E27FC236}">
                <a16:creationId xmlns:a16="http://schemas.microsoft.com/office/drawing/2014/main" id="{8A67E7A6-1F33-FBD3-09B8-F35F17C8F890}"/>
              </a:ext>
            </a:extLst>
          </p:cNvPr>
          <p:cNvGrpSpPr/>
          <p:nvPr/>
        </p:nvGrpSpPr>
        <p:grpSpPr>
          <a:xfrm>
            <a:off x="442519" y="4562547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FE269535-B3A3-75F2-310C-D43D8AC3F905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FA8E9237-F9D3-FB94-D6EB-94D77AEFD506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C1554CCE-4DF8-89E6-E0F6-3C2A1439C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b="1" dirty="0"/>
              <a:t>Date:17-08-2026</a:t>
            </a:r>
            <a:endParaRPr lang="en-IN" b="1" dirty="0"/>
          </a:p>
        </p:txBody>
      </p:sp>
      <p:sp>
        <p:nvSpPr>
          <p:cNvPr id="35" name="Footer Placeholder 34">
            <a:extLst>
              <a:ext uri="{FF2B5EF4-FFF2-40B4-BE49-F238E27FC236}">
                <a16:creationId xmlns:a16="http://schemas.microsoft.com/office/drawing/2014/main" id="{8FB49AA0-2464-6225-6B6C-063F9A6EC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b="1" dirty="0"/>
              <a:t>SOA Project Review-1</a:t>
            </a: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28F834F9-83AA-E3F9-773A-4B7A83B34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1</a:t>
            </a:fld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EE5F681-D3B5-BC4B-8AA4-5688DCEEFB44}"/>
              </a:ext>
            </a:extLst>
          </p:cNvPr>
          <p:cNvSpPr/>
          <p:nvPr/>
        </p:nvSpPr>
        <p:spPr>
          <a:xfrm>
            <a:off x="638175" y="769267"/>
            <a:ext cx="10915650" cy="98564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782FAE-AFAF-27B2-2591-CFAF7695B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D4CF64F-3FB6-0CE4-B778-63C5D5A1D343}"/>
              </a:ext>
            </a:extLst>
          </p:cNvPr>
          <p:cNvSpPr txBox="1"/>
          <p:nvPr/>
        </p:nvSpPr>
        <p:spPr>
          <a:xfrm>
            <a:off x="738187" y="810857"/>
            <a:ext cx="107156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Food Waste Tracking System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5BC1A0-FDE4-1557-375E-6E0BD69BC77B}"/>
              </a:ext>
            </a:extLst>
          </p:cNvPr>
          <p:cNvSpPr txBox="1"/>
          <p:nvPr/>
        </p:nvSpPr>
        <p:spPr>
          <a:xfrm>
            <a:off x="738187" y="2246806"/>
            <a:ext cx="107156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SOA Project Review-1</a:t>
            </a:r>
          </a:p>
        </p:txBody>
      </p:sp>
    </p:spTree>
    <p:extLst>
      <p:ext uri="{BB962C8B-B14F-4D97-AF65-F5344CB8AC3E}">
        <p14:creationId xmlns:p14="http://schemas.microsoft.com/office/powerpoint/2010/main" val="2247602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C8F81-5402-FBBE-D32A-834F3C603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BD4C9C-9DEB-26F4-AA75-F51C06DD64DC}"/>
              </a:ext>
            </a:extLst>
          </p:cNvPr>
          <p:cNvSpPr txBox="1"/>
          <p:nvPr/>
        </p:nvSpPr>
        <p:spPr>
          <a:xfrm>
            <a:off x="3991897" y="48223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Problem Statement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A614DC-364B-1BD9-B452-BC2E55FD9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1028B6B-B72C-D7D3-D90D-FDE2CAB573A8}"/>
              </a:ext>
            </a:extLst>
          </p:cNvPr>
          <p:cNvSpPr txBox="1"/>
          <p:nvPr/>
        </p:nvSpPr>
        <p:spPr>
          <a:xfrm>
            <a:off x="1028220" y="1275760"/>
            <a:ext cx="1042636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b="1" dirty="0"/>
              <a:t>Inadequate Visual Context Processing:</a:t>
            </a:r>
            <a:r>
              <a:rPr lang="en-US" sz="2400" dirty="0"/>
              <a:t> Current automated image recognition and description systems often struggle to accurately synthesize complex visual semantics into clear, contextually aware textual representations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b="1" dirty="0"/>
              <a:t>Loss of Critical Details:</a:t>
            </a:r>
            <a:r>
              <a:rPr lang="en-US" sz="2400" dirty="0"/>
              <a:t> Existing models frequently miss fine-grained details, leading to vague, inaccurate, or hallucinated descriptions.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b="1" dirty="0"/>
              <a:t>Lack of Multi-Modal Alignment:</a:t>
            </a:r>
            <a:r>
              <a:rPr lang="en-US" sz="2400" dirty="0"/>
              <a:t> Mismatches between high-level visual features and corresponding language representations hinder reliable performance in downstream tasks (e.g., visual accessibility, automated auditing, content moderation).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39377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1F1EC1-74D1-26E3-AE74-AF9193F66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EE70643-C6CD-C2FA-D64A-281FF31AEF33}"/>
              </a:ext>
            </a:extLst>
          </p:cNvPr>
          <p:cNvSpPr txBox="1"/>
          <p:nvPr/>
        </p:nvSpPr>
        <p:spPr>
          <a:xfrm>
            <a:off x="2861188" y="433071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Objectives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BE9CBFE-29F1-63FD-DCC0-DC1FA95709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BCD5B2E-DC64-CCB7-67BA-6100F925C9CD}"/>
              </a:ext>
            </a:extLst>
          </p:cNvPr>
          <p:cNvSpPr txBox="1"/>
          <p:nvPr/>
        </p:nvSpPr>
        <p:spPr>
          <a:xfrm>
            <a:off x="1028220" y="1275760"/>
            <a:ext cx="1042636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Develop an Advanced Visual Interpretation System:</a:t>
            </a:r>
            <a:r>
              <a:rPr lang="en-US" sz="2400" dirty="0"/>
              <a:t> Build a robust vision-language architecture capable of generating precise visual summaries.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a microservices-based architecture for modularity, scalability, and independent service management.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Enhance Semantic Precision:</a:t>
            </a:r>
            <a:r>
              <a:rPr lang="en-US" sz="2400" dirty="0"/>
              <a:t> Improve cross-modal feature alignment to capture both global scene context and fine-grained visual details.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AI-assisted bug analysis for severity, priority, category classification, and duplicate-bug identification.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Optimize Computational Efficiency:</a:t>
            </a:r>
            <a:r>
              <a:rPr lang="en-US" sz="2400" dirty="0"/>
              <a:t> Implement an architecture that maintains high accuracy without excessive operational overhead.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15346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9B8DFE-41BC-2EA7-F8C9-912DD0381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D475511-6B0A-A5BB-C58B-C0A503A07F18}"/>
              </a:ext>
            </a:extLst>
          </p:cNvPr>
          <p:cNvSpPr txBox="1"/>
          <p:nvPr/>
        </p:nvSpPr>
        <p:spPr>
          <a:xfrm>
            <a:off x="2861188" y="433071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Problem Gap Identification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51749F2-F2BE-E8F8-803F-E5E5174960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3293496-7A2D-C47B-798C-F488FF2FCB8D}"/>
              </a:ext>
            </a:extLst>
          </p:cNvPr>
          <p:cNvSpPr txBox="1"/>
          <p:nvPr/>
        </p:nvSpPr>
        <p:spPr>
          <a:xfrm>
            <a:off x="1028220" y="1275760"/>
            <a:ext cx="10426360" cy="4739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Based on the existing approaches considered for software defect management, the following gaps are identified:</a:t>
            </a:r>
          </a:p>
          <a:p>
            <a:pPr algn="just"/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sz="2400" b="1" dirty="0"/>
              <a:t>Coarse-Grained Feature Extraction:</a:t>
            </a:r>
            <a:r>
              <a:rPr lang="en-US" sz="2400" dirty="0"/>
              <a:t> Conventional models rely on holistic image embeddings that fail to capture localized, contextual nuances.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severity and priority assignment can introduce inconsistency and additional effort.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sz="2400" b="1" dirty="0"/>
              <a:t>Hallucination in Description:</a:t>
            </a:r>
            <a:r>
              <a:rPr lang="en-US" sz="2400" dirty="0"/>
              <a:t> Existing generative vision-language models often invent non-existent objects or relationships due to weak spatial-textual grounding.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defect analysis is not always integrated with a complete microservices-based defect management architecture.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sz="2400" b="1" dirty="0"/>
              <a:t>Trade-off Between Accuracy and Latency:</a:t>
            </a:r>
            <a:r>
              <a:rPr lang="en-US" sz="2400" dirty="0"/>
              <a:t> High-accuracy multi-modal models are often too computationally heavy for real-time applications, while lighter models suffer in descriptive quality.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5667422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C6D84-077B-7007-4B63-807557EC6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387226-F29E-0041-5581-4EF07C7198F1}"/>
              </a:ext>
            </a:extLst>
          </p:cNvPr>
          <p:cNvSpPr txBox="1"/>
          <p:nvPr/>
        </p:nvSpPr>
        <p:spPr>
          <a:xfrm>
            <a:off x="1893060" y="567351"/>
            <a:ext cx="84058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Innovation, Creativity, and Novelty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C5F926-1E4C-4031-B9E9-6A17F126A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2D68D14-B912-1056-2D1F-C02B49DAA6D7}"/>
              </a:ext>
            </a:extLst>
          </p:cNvPr>
          <p:cNvSpPr txBox="1"/>
          <p:nvPr/>
        </p:nvSpPr>
        <p:spPr>
          <a:xfrm>
            <a:off x="481782" y="1453587"/>
            <a:ext cx="10884308" cy="3724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sz="2400" b="1" dirty="0"/>
              <a:t>Adaptive Multi-Scale Feature Alignment:</a:t>
            </a:r>
            <a:r>
              <a:rPr lang="en-US" sz="2400" dirty="0"/>
              <a:t> Introduces a novel attention mechanism that dynamically bridges fine-grained local object detection with global scene semantics.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AI-assisted bug category classification.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sz="2400" b="1" dirty="0"/>
              <a:t>Enhanced Spatial-Textual Grounding:</a:t>
            </a:r>
            <a:r>
              <a:rPr lang="en-US" sz="2400" dirty="0"/>
              <a:t> Implements an advanced cross-attention module designed to mitigate visual hallucinations.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of AI processing with a microservices-based defect management platform.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sz="2400" b="1" dirty="0"/>
              <a:t>Optimized Architecture:</a:t>
            </a:r>
            <a:r>
              <a:rPr lang="en-US" sz="2400" dirty="0"/>
              <a:t> Utilizes a streamlined encoder-decoder framework that delivers state-of-the-art descriptive fidelity with reduced computational footprint.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Event-driven communication using Kafka. . </a:t>
            </a:r>
          </a:p>
        </p:txBody>
      </p:sp>
    </p:spTree>
    <p:extLst>
      <p:ext uri="{BB962C8B-B14F-4D97-AF65-F5344CB8AC3E}">
        <p14:creationId xmlns:p14="http://schemas.microsoft.com/office/powerpoint/2010/main" val="35241353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ADAE02-D4C0-99A5-6F2A-DAE09AFC8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D414475-0F37-0278-D803-A5BB210EE62F}"/>
              </a:ext>
            </a:extLst>
          </p:cNvPr>
          <p:cNvSpPr txBox="1"/>
          <p:nvPr/>
        </p:nvSpPr>
        <p:spPr>
          <a:xfrm>
            <a:off x="1893060" y="567351"/>
            <a:ext cx="84058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Innovation, Creativity, and Novelty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61E6F79-6AFA-AE7E-6E9C-09BE008BD0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8C46D33-105F-2546-E42A-DD6051BE808F}"/>
              </a:ext>
            </a:extLst>
          </p:cNvPr>
          <p:cNvSpPr txBox="1"/>
          <p:nvPr/>
        </p:nvSpPr>
        <p:spPr>
          <a:xfrm>
            <a:off x="481782" y="1453587"/>
            <a:ext cx="1088430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CD51258-22D7-AFEF-BD83-9C808AF996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522941"/>
              </p:ext>
            </p:extLst>
          </p:nvPr>
        </p:nvGraphicFramePr>
        <p:xfrm>
          <a:off x="850490" y="1781033"/>
          <a:ext cx="10515600" cy="323088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3899850433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25045086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effectLst/>
                          <a:latin typeface="Google Sans Text"/>
                        </a:rPr>
                        <a:t>Dimension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effectLst/>
                          <a:latin typeface="Google Sans Text"/>
                        </a:rPr>
                        <a:t>Assessment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07724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effectLst/>
                          <a:latin typeface="Google Sans Text"/>
                        </a:rPr>
                        <a:t>Technical Feasibility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Google Sans Text"/>
                        </a:rPr>
                        <a:t>Leverages established open-source vision-language frameworks, pre-trained transformer backbones, and standard deep learning libraries.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90627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effectLst/>
                          <a:latin typeface="Google Sans Text"/>
                        </a:rPr>
                        <a:t>Data Feasibility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  <a:latin typeface="Google Sans Text"/>
                        </a:rPr>
                        <a:t>Utilizes benchmark open-access multi-modal datasets (e.g., MS-COCO, Visual Genome) for training and evaluation.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88312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effectLst/>
                          <a:latin typeface="Google Sans Text"/>
                        </a:rPr>
                        <a:t>Operational Feasibility</a:t>
                      </a:r>
                      <a:endParaRPr lang="en-IN" dirty="0"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  <a:latin typeface="Google Sans Text"/>
                        </a:rPr>
                        <a:t>Modular pipeline allows seamless integration into web interfaces, mobile accessibility tools, or cloud API services.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18527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73407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484</Words>
  <Application>Microsoft Office PowerPoint</Application>
  <PresentationFormat>Widescreen</PresentationFormat>
  <Paragraphs>45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Aptos</vt:lpstr>
      <vt:lpstr>Aptos Display</vt:lpstr>
      <vt:lpstr>Arial</vt:lpstr>
      <vt:lpstr>Google Sans Text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srikanth ch</dc:creator>
  <cp:lastModifiedBy>Pavan Teja</cp:lastModifiedBy>
  <cp:revision>36</cp:revision>
  <dcterms:created xsi:type="dcterms:W3CDTF">2026-08-08T06:33:56Z</dcterms:created>
  <dcterms:modified xsi:type="dcterms:W3CDTF">2026-08-20T03:31:48Z</dcterms:modified>
</cp:coreProperties>
</file>